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bc18ec5f5a466f" /><Relationship Type="http://schemas.openxmlformats.org/officeDocument/2006/relationships/extended-properties" Target="/docProps/app.xml" Id="R5e1f8cf5cb8b4acb" /><Relationship Type="http://schemas.openxmlformats.org/officeDocument/2006/relationships/officeDocument" Target="/ppt/presentation.xml" Id="R04f05b7d27b44b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e5142c630451e"/>
  </p:sldMasterIdLst>
  <p:notesMasterIdLst>
    <p:notesMasterId xmlns:r="http://schemas.openxmlformats.org/officeDocument/2006/relationships" r:id="R6fdf0dc25f944a84"/>
  </p:notesMasterIdLst>
  <p:sldIdLst>
    <p:sldId xmlns:r="http://schemas.openxmlformats.org/officeDocument/2006/relationships" id="256" r:id="R8a109889f9b845cb"/>
    <p:sldId xmlns:r="http://schemas.openxmlformats.org/officeDocument/2006/relationships" id="257" r:id="R6b5164dac88a44c0"/>
    <p:sldId xmlns:r="http://schemas.openxmlformats.org/officeDocument/2006/relationships" id="258" r:id="Re606e3712ee1448e"/>
    <p:sldId xmlns:r="http://schemas.openxmlformats.org/officeDocument/2006/relationships" id="259" r:id="Rda5e5388961a46ae"/>
    <p:sldId xmlns:r="http://schemas.openxmlformats.org/officeDocument/2006/relationships" id="260" r:id="R8b1bf34bea464fd1"/>
    <p:sldId xmlns:r="http://schemas.openxmlformats.org/officeDocument/2006/relationships" id="261" r:id="Rfa467dc5a7804ac7"/>
    <p:sldId xmlns:r="http://schemas.openxmlformats.org/officeDocument/2006/relationships" id="262" r:id="R694f58d34fb74f23"/>
    <p:sldId xmlns:r="http://schemas.openxmlformats.org/officeDocument/2006/relationships" id="263" r:id="R3ebfe8c560e44516"/>
    <p:sldId xmlns:r="http://schemas.openxmlformats.org/officeDocument/2006/relationships" id="264" r:id="Rb5d967674b3b45c4"/>
    <p:sldId xmlns:r="http://schemas.openxmlformats.org/officeDocument/2006/relationships" id="265" r:id="Rd24f6dfa96ce4d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4f0ccd3cf3429b" /><Relationship Type="http://schemas.openxmlformats.org/officeDocument/2006/relationships/slideMaster" Target="/ppt/slideMasters/slideMaster1.xml" Id="Ra14e5142c630451e" /><Relationship Type="http://schemas.openxmlformats.org/officeDocument/2006/relationships/notesMaster" Target="/ppt/notesMasters/notesMaster1.xml" Id="R6fdf0dc25f944a84" /><Relationship Type="http://schemas.openxmlformats.org/officeDocument/2006/relationships/presProps" Target="/ppt/presProps.xml" Id="R3787180e70f143ec" /><Relationship Type="http://schemas.openxmlformats.org/officeDocument/2006/relationships/tableStyles" Target="/ppt/tableStyles.xml" Id="R606e045d729b4852" /><Relationship Type="http://schemas.openxmlformats.org/officeDocument/2006/relationships/slide" Target="/ppt/slides/slide1.xml" Id="R8a109889f9b845cb" /><Relationship Type="http://schemas.openxmlformats.org/officeDocument/2006/relationships/slide" Target="/ppt/slides/slide2.xml" Id="R6b5164dac88a44c0" /><Relationship Type="http://schemas.openxmlformats.org/officeDocument/2006/relationships/slide" Target="/ppt/slides/slide3.xml" Id="Re606e3712ee1448e" /><Relationship Type="http://schemas.openxmlformats.org/officeDocument/2006/relationships/slide" Target="/ppt/slides/slide4.xml" Id="Rda5e5388961a46ae" /><Relationship Type="http://schemas.openxmlformats.org/officeDocument/2006/relationships/slide" Target="/ppt/slides/slide5.xml" Id="R8b1bf34bea464fd1" /><Relationship Type="http://schemas.openxmlformats.org/officeDocument/2006/relationships/slide" Target="/ppt/slides/slide6.xml" Id="Rfa467dc5a7804ac7" /><Relationship Type="http://schemas.openxmlformats.org/officeDocument/2006/relationships/slide" Target="/ppt/slides/slide7.xml" Id="R694f58d34fb74f23" /><Relationship Type="http://schemas.openxmlformats.org/officeDocument/2006/relationships/slide" Target="/ppt/slides/slide8.xml" Id="R3ebfe8c560e44516" /><Relationship Type="http://schemas.openxmlformats.org/officeDocument/2006/relationships/slide" Target="/ppt/slides/slide9.xml" Id="Rb5d967674b3b45c4" /><Relationship Type="http://schemas.openxmlformats.org/officeDocument/2006/relationships/slide" Target="/ppt/slides/slide10.xml" Id="Rd24f6dfa96ce4d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05a5c3990446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b9750f1c94298" /><Relationship Type="http://schemas.openxmlformats.org/officeDocument/2006/relationships/notesMaster" Target="/ppt/notesMasters/notesMaster1.xml" Id="R476c20815d8948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264b49c2b247ee" /><Relationship Type="http://schemas.openxmlformats.org/officeDocument/2006/relationships/notesMaster" Target="/ppt/notesMasters/notesMaster1.xml" Id="Rae4f1769723d4f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36f288a45e43a6" /><Relationship Type="http://schemas.openxmlformats.org/officeDocument/2006/relationships/notesMaster" Target="/ppt/notesMasters/notesMaster1.xml" Id="Re55e1b78c99c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4bec81b35f4031" /><Relationship Type="http://schemas.openxmlformats.org/officeDocument/2006/relationships/notesMaster" Target="/ppt/notesMasters/notesMaster1.xml" Id="R37b35115e47f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fa0248c2f74a60" /><Relationship Type="http://schemas.openxmlformats.org/officeDocument/2006/relationships/notesMaster" Target="/ppt/notesMasters/notesMaster1.xml" Id="R2bd7fece3a3a41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2cf21bc68c45a3" /><Relationship Type="http://schemas.openxmlformats.org/officeDocument/2006/relationships/notesMaster" Target="/ppt/notesMasters/notesMaster1.xml" Id="R21cedb12b75248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941b7f72a14f66" /><Relationship Type="http://schemas.openxmlformats.org/officeDocument/2006/relationships/notesMaster" Target="/ppt/notesMasters/notesMaster1.xml" Id="R106ea20eb1f34e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6776f1a5784ea0" /><Relationship Type="http://schemas.openxmlformats.org/officeDocument/2006/relationships/notesMaster" Target="/ppt/notesMasters/notesMaster1.xml" Id="Rd5c32785e30143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b8b4695234b4b" /><Relationship Type="http://schemas.openxmlformats.org/officeDocument/2006/relationships/notesMaster" Target="/ppt/notesMasters/notesMaster1.xml" Id="Refef292bc47b4b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c5abda7376424b" /><Relationship Type="http://schemas.openxmlformats.org/officeDocument/2006/relationships/notesMaster" Target="/ppt/notesMasters/notesMaster1.xml" Id="R287e2a0a034e4e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CropScope as a decision-support prototype. Weather, NDVI and rule-based checks were exercised live; the Gemini live call is pending a local API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does not claim to replace farmer judgment or provide verified diagnosis. Scope excludes IoT sensors.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user can draw or enter a rectangle anywhere within the supported analysis size. Weather and satellite observations are independent inputs. Code proposes checks; Gemini can rank them when configured.</a:t>
            </a:r>
          </a:p>
          <a:p xmlns:a="http://schemas.openxmlformats.org/drawingml/2006/main">
            <a:r>
              <a:t>Source: https://open-meteo.com/en/docs</a:t>
            </a:r>
          </a:p>
          <a:p xmlns:a="http://schemas.openxmlformats.org/drawingml/2006/main">
            <a:r>
              <a:t>Source: https://github.com/Element84/earth-search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Sentinel-2 Level-2A red band B04 and near-infrared band B08. Show acquisition dates and the share of usable pixels. ET₀ is reference evapotranspiration, not measured soil moisture.</a:t>
            </a:r>
          </a:p>
          <a:p xmlns:a="http://schemas.openxmlformats.org/drawingml/2006/main">
            <a:r>
              <a:t>Source: https://open-meteo.com/en/docs</a:t>
            </a:r>
          </a:p>
          <a:p xmlns:a="http://schemas.openxmlformats.org/drawingml/2006/main">
            <a:r>
              <a:t>Source: https://earth-search.aws.element84.com/v1/api.html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live demo uses the rule-based fallback. Gemini ranking is implemented and unit-tested, but a successful live call awaits a locally configured API key. The model may only select action and evidence IDs; displayed advice is code-controlled.</a:t>
            </a:r>
          </a:p>
          <a:p xmlns:a="http://schemas.openxmlformats.org/drawingml/2006/main">
            <a:r>
              <a:t>Source: https://ai.google.dev/api/generate-content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Python app uses app.py, weather.py, satellite.py, recommendations.py, ai.py, analysis.py and cache.py. The key is never stored in source code.</a:t>
            </a:r>
          </a:p>
          <a:p xmlns:a="http://schemas.openxmlformats.org/drawingml/2006/main">
            <a:r>
              <a:t>Source: https://open-meteo.com/en/docs</a:t>
            </a:r>
          </a:p>
          <a:p xmlns:a="http://schemas.openxmlformats.org/drawingml/2006/main">
            <a:r>
              <a:t>Source: https://github.com/Element84/earth-search</a:t>
            </a:r>
          </a:p>
          <a:p xmlns:a="http://schemas.openxmlformats.org/drawingml/2006/main">
            <a:r>
              <a:t>Source: https://ai.google.dev/api/generate-content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checks on 30 October 2026 covered India, France and Australia. Weather-only, satellite-only, neither-source and same-area cache paths also have automated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a live CropScope analysis of the exact Karnal example rectangle on 30 October 2026. Mean NDVI 0.458498; 100% usable pixels; Sentinel-2 scene S2B_T43RFN_20261025T053358_L2A. Weather forecast dates 30 October through 5 November. The recommendation view used the labeled rule-based fallback because no Gemini key was configured. Sources: Open-Meteo, Element 84 Earth Search, Copernicus Sentinel-2.</a:t>
            </a:r>
          </a:p>
          <a:p xmlns:a="http://schemas.openxmlformats.org/drawingml/2006/main">
            <a:r>
              <a:t>Source: https://earth-search.aws.element84.com/v1/collections/sentinel-2-c1-l2a/items/S2B_T43RFN_20261025T053358_L2A</a:t>
            </a:r>
          </a:p>
          <a:p xmlns:a="http://schemas.openxmlformats.org/drawingml/2006/main">
            <a:r>
              <a:t>Source: https://open-meteo.com/en/docs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remains decision support. The model ranking is implemented and tested with mocked responses, but has not yet been exercised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questions. The live weather and satellite paths ran for three areas on 30 October 2026. The Gemini live call awaits a local key.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6fd1f27284d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2c9ff60f64a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bee30f35742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455acadf549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27d94abc84e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62b7a5d8048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FA3555-6EA3-4224-B80B-F1A10DE04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A12793-682B-4DDE-AB5B-F0A71E9461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E6C00DA-E497-4AD0-9E52-711A7BD34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972E8D-C931-4204-BAAE-1F2ED51996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ACD618-8281-4A00-8A36-7BF6AA0383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FEA03-5681-4605-9E97-6F612E9458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901EBD-0F8E-4F1F-B7B7-A8D864EE19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A60EFA2-60D7-4BFC-BE85-E432AA3C1B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4B8C45-F3EA-4D6C-926C-0338A439D5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AD407F-D0B0-4984-85F9-6257D27286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b865bc563a47be" /><Relationship Type="http://schemas.openxmlformats.org/officeDocument/2006/relationships/slideLayout" Target="/ppt/slideLayouts/slideLayout1.xml" Id="R8ff4efb2bb4d49ad" /><Relationship Type="http://schemas.openxmlformats.org/officeDocument/2006/relationships/slideLayout" Target="/ppt/slideLayouts/slideLayout2.xml" Id="R16d7f02670f5481d" /><Relationship Type="http://schemas.openxmlformats.org/officeDocument/2006/relationships/slideLayout" Target="/ppt/slideLayouts/slideLayout3.xml" Id="R3ae29c5927a846e0" /><Relationship Type="http://schemas.openxmlformats.org/officeDocument/2006/relationships/slideLayout" Target="/ppt/slideLayouts/slideLayout4.xml" Id="Ra41bac2683a74153" /><Relationship Type="http://schemas.openxmlformats.org/officeDocument/2006/relationships/slideLayout" Target="/ppt/slideLayouts/slideLayout5.xml" Id="R9317ad18897f49b5" /><Relationship Type="http://schemas.openxmlformats.org/officeDocument/2006/relationships/slideLayout" Target="/ppt/slideLayouts/slideLayout6.xml" Id="Rc273250cd49b4c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f4efb2bb4d49ad"/>
    <p:sldLayoutId xmlns:r="http://schemas.openxmlformats.org/officeDocument/2006/relationships" id="2147483650" r:id="R16d7f02670f5481d"/>
    <p:sldLayoutId xmlns:r="http://schemas.openxmlformats.org/officeDocument/2006/relationships" id="2147483651" r:id="R3ae29c5927a846e0"/>
    <p:sldLayoutId xmlns:r="http://schemas.openxmlformats.org/officeDocument/2006/relationships" id="2147483652" r:id="Ra41bac2683a74153"/>
    <p:sldLayoutId xmlns:r="http://schemas.openxmlformats.org/officeDocument/2006/relationships" id="2147483653" r:id="R9317ad18897f49b5"/>
    <p:sldLayoutId xmlns:r="http://schemas.openxmlformats.org/officeDocument/2006/relationships" id="2147483654" r:id="Rc273250cd49b4c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95ada8b0e4ce6" /><Relationship Type="http://schemas.openxmlformats.org/officeDocument/2006/relationships/notesSlide" Target="/ppt/notesSlides/notesSlide1.xml" Id="R521fb776583e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e52db92e340f8" /><Relationship Type="http://schemas.openxmlformats.org/officeDocument/2006/relationships/notesSlide" Target="/ppt/notesSlides/notesSlide2.xml" Id="R29ed92dc32f443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ba2fa8e934a15" /><Relationship Type="http://schemas.openxmlformats.org/officeDocument/2006/relationships/notesSlide" Target="/ppt/notesSlides/notesSlide3.xml" Id="R7f2eb35029e448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f7e3d9c044c7c" /><Relationship Type="http://schemas.openxmlformats.org/officeDocument/2006/relationships/notesSlide" Target="/ppt/notesSlides/notesSlide4.xml" Id="R71a850c013fb4e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bfbdd4d8a45ae" /><Relationship Type="http://schemas.openxmlformats.org/officeDocument/2006/relationships/notesSlide" Target="/ppt/notesSlides/notesSlide5.xml" Id="R1efcdd4d5c6841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d36a400dc43da" /><Relationship Type="http://schemas.openxmlformats.org/officeDocument/2006/relationships/notesSlide" Target="/ppt/notesSlides/notesSlide6.xml" Id="R9bdfb368d9164f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ef99b7d814190" /><Relationship Type="http://schemas.openxmlformats.org/officeDocument/2006/relationships/notesSlide" Target="/ppt/notesSlides/notesSlide7.xml" Id="R60e14e84e24a46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f369a78f04ded" /><Relationship Type="http://schemas.openxmlformats.org/officeDocument/2006/relationships/image" Target="/ppt/media/image.png" Id="R7b5eb5a57d494c50" /><Relationship Type="http://schemas.openxmlformats.org/officeDocument/2006/relationships/notesSlide" Target="/ppt/notesSlides/notesSlide8.xml" Id="Rf4ba3c4314f141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9282026db4cea" /><Relationship Type="http://schemas.openxmlformats.org/officeDocument/2006/relationships/notesSlide" Target="/ppt/notesSlides/notesSlide9.xml" Id="Rf3d280745c0840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c37630d724159" /><Relationship Type="http://schemas.openxmlformats.org/officeDocument/2006/relationships/notesSlide" Target="/ppt/notesSlides/notesSlide10.xml" Id="Ra5525f99de3242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722AA-1620-4E30-84DC-CDB6F21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F8BE0-FD1C-4EF9-AD28-44897A94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3CB79-DF14-4D8D-B4C3-CA6184EC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CropScope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E619D-C3AA-4619-8BBC-E2586C66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Selected-area weather, Sentinel-2 vegetation data and evidence-backed field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8A21C-8599-4204-9AD3-DCA222ED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8803F-AA49-4974-B360-C16C72D2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Shreyash Shukla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C4186-554C-4610-92FC-7087A9E2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504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23BCP089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DB0EC-3B1D-48ED-B71D-9394888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67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Parth Parekh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BDEE0-C222-4F91-9EFA-10FCD34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7682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23BCP083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76891-D19E-4AE6-9AAB-DAECC792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Minor project demo  |  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910672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DF8A6-9098-40F9-A726-CB3F04C0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PROBLEM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80BB6-77F8-4171-AA78-63FC5C0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The decision gap for farmers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6B403-2855-49C4-9A67-4F19FAF8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873E0-605A-4C2B-899B-731FCCF9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57983-5992-4F93-A05A-AC1FC58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Current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872F6-2674-422E-BC8D-7DE011DC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50006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Weather forecasts describe conditions around a farm, but they do not show whether vegetation in a particular plot is changing.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34358-39E6-4EAE-8524-79C4417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5000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Satellite images can reveal vegetation patterns, but an image alone does not tell a farmer what to check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8CA01-E8DF-4919-BDD7-342CC86A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478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530CC-16B8-4F67-9357-E25DBC20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19275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F6812-A5FF-4626-82D2-6815E766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810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Combine a recent vegetation observation with upcoming weather and the user’s crop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30A88-3B51-48CC-A8FF-3A89C42D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4810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Turn those inputs into concise recommendations that show the supporting evidence and its 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7AAE8-FA17-4042-816C-42CD4C4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0982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5ED23-4DC9-45D9-BA27-98C28279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839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Goal: useful decision support for one selected plot, without requiring IoT hardware.</a:t>
            </a:r>
          </a:p>
        </p:txBody>
      </p:sp>
    </p:spTree>
    <p:extLst>
      <p:ext uri="{BB962C8B-B14F-4D97-AF65-F5344CB8AC3E}">
        <p14:creationId xmlns:p14="http://schemas.microsoft.com/office/powerpoint/2010/main" val="969576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834AB7-B114-4C17-9330-AFD6B3A3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DESIGN &amp;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CFBC7-A841-4B9A-8D7D-80A438E7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From plot information to advice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7ECC9-4EB5-4A86-90FB-B6D8FCB4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CEED5-B84A-40FB-A259-F0C92DEF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5742A-9BAE-429B-85E9-FD9343B1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809750" cy="21717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69FEC-FAFA-441C-8812-71AF2341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152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User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F2CB8-C1D9-42BD-BA35-12982537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00375"/>
            <a:ext cx="152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Plot location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Crop and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68359-E43F-4E40-815E-063DFF9E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BD2F9-2EE9-4C3D-9D6F-898174C8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76475"/>
            <a:ext cx="2000250" cy="21717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BA83F-DA0A-4E4E-A248-A6E4764F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57450"/>
            <a:ext cx="171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Weather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16856-2ECE-4AC2-82A8-AC8187C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0375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Rain forecast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Temperature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ET₀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4E469-D34D-48C4-B0C4-8EF1A46D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BF1E8-13F6-46EB-8BAE-2635427A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76475"/>
            <a:ext cx="2105025" cy="217170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D8247-FE35-4859-B382-3D3298A6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819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Satellite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F5DDF-D4EA-435D-86C4-0FB726DC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0375"/>
            <a:ext cx="18192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Sentinel-2 scene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Red + NIR bands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FA451-E3FD-4951-BB76-EADF43C1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E82FC-DAA9-4A83-8405-DE57F34E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76475"/>
            <a:ext cx="1752600" cy="21717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05008-007B-4B0A-99E4-136746C7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146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4E25B-EBAF-41C1-A836-962EEC0D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1466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Cloud filter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NDVI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E6DAD-FB04-4FCB-8E82-34C296E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88A25-7AB2-4FC4-B922-0523825A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76475"/>
            <a:ext cx="1752600" cy="21717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A2C80-D919-45CA-BC4C-F29C297B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146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AI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4E23F1-37F5-4783-B2A6-2AFE5E5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1466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Ranked actions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Reasons + caution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4F313-A18E-4F99-8327-F5424DC8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28"/>
          </a:bodyPr>
          <a:lstStyle xmlns:a="http://schemas.openxmlformats.org/drawingml/2006/main">
            <a:def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What the user sees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0D4FC-00E1-4A5F-A3DB-8274CE0D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0829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A dated weather summary, a vegetation indicator, and recommended next steps linked to those inputs.</a:t>
            </a:r>
          </a:p>
        </p:txBody>
      </p:sp>
    </p:spTree>
    <p:extLst>
      <p:ext uri="{BB962C8B-B14F-4D97-AF65-F5344CB8AC3E}">
        <p14:creationId xmlns:p14="http://schemas.microsoft.com/office/powerpoint/2010/main" val="1230213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F203C-0A8B-406F-B453-4E202EF3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DESIGN &amp;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98F86-6672-4204-AC39-AD122E76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How the input data are processed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05D37-EEC2-48E5-A166-48BA7FF2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CD478-4593-46B8-8571-EE8EB07C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41928A-44CD-4084-8222-B79C7702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03729-BBBF-4AB1-A195-24B96AAC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50387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Open-Meteo supplies a seven-day forecast for the plot coordinates.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8BBAA-8E3C-4320-9B03-F115F79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50387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The app extracts daily rainfall, maximum temperature and reference evapotranspiration (ET₀).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03562-CB70-4A77-985C-EC76E693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D45F0-B11D-4667-B632-791C6A3F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478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Satellite imagery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8081E-8B52-472D-A450-B584D051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86000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Earth Search locates a recent, low-cloud Sentinel-2 scene for the same area.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905CA-9F4E-4244-82AE-D9DB354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62325"/>
            <a:ext cx="4857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The app crops the selected area, removes cloudy pixels and computes NDVI from red and near-infrared bands.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D0C57-A112-4539-B66A-5B7F2CF8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339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283CB-A0D7-4769-AD3E-E313B218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NDVI = (NIR − Red) / (NIR + Red)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79B2F-2500-4623-8196-6280EE58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NDVI is a vegetation indicator, not a disease diagnosis.</a:t>
            </a:r>
          </a:p>
        </p:txBody>
      </p:sp>
    </p:spTree>
    <p:extLst>
      <p:ext uri="{BB962C8B-B14F-4D97-AF65-F5344CB8AC3E}">
        <p14:creationId xmlns:p14="http://schemas.microsoft.com/office/powerpoint/2010/main" val="1744225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0F81E-0F35-413D-8B15-501D1783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DESIGN &amp;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314D4-8E35-4190-B2BA-4F47AC79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How recommendations are selected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5A4A1-DCC2-4729-8027-42788E0E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90AB8-05CD-4D9D-BEE9-B2388A86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47A17-146C-4934-8435-8A35BEEB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Code prepares candidates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967EB-4A4A-4188-94E0-65E8DCE0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Crop and growth stage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Dated weather observations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NDVI and usable-pixel share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Safe field checks with evidence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1B928-FC6C-48DB-8CF3-819C9E9B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19275"/>
            <a:ext cx="0" cy="268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D7A8F-DC3B-4ED2-83BA-06537B37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288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Ranking and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7AB77-26D5-4139-84C6-8F15BE13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86000"/>
            <a:ext cx="4857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Gemini selects action and evidence IDs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Code rejects unsupported selections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A rule-based fallback works offline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Displayed wording comes from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2A5A3-0C55-4267-A587-D313469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982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94DC9-B7AC-487B-A5E5-6EA8E55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3562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97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Example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84848-192A-48AB-95A0-79FD893D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When rain is scarce and reference ET₀ is high, the app suggests checking soil moisture on site.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5C23A-F116-4933-9AAF-1C4E14C2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The live Gemini call awaits a local API key. No exact water or fertilizer dose is proposed.</a:t>
            </a:r>
          </a:p>
        </p:txBody>
      </p:sp>
    </p:spTree>
    <p:extLst>
      <p:ext uri="{BB962C8B-B14F-4D97-AF65-F5344CB8AC3E}">
        <p14:creationId xmlns:p14="http://schemas.microsoft.com/office/powerpoint/2010/main" val="13129153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4D3E5-FA18-48F4-A333-FD967E3E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IMPLEMENTATION &amp; TECHNICAL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B8537-983E-4908-B1D4-000EA182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 small Python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0A03B-1C71-4AAB-82A6-0834B7CE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9F87C-BEB7-442D-BCD5-0BE5A561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7818C-B47C-43FD-9BA6-E8EC3E84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F69F2-6515-48A4-B13D-FB9A0D4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28800"/>
            <a:ext cx="2790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15955-4D59-4560-8640-53A6EEEA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288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6FD0D-65AE-4E33-BD82-FA9CE5A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57C03-2A07-4820-9995-12D74E5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5E017-4502-417D-B184-263A383C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D04CA-D378-4E52-B645-50959F6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Plot inputs and results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A7DF0-A8C0-4031-A0D7-1DF977F7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5B707-B8AC-4AE1-946A-850042F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638A5-78A6-42F5-BC3D-0B18E37D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242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Open-Meteo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13200-C5B8-4CBC-90AE-92BBA6C1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Forecast request and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811E7-6A88-44AE-84E0-A8B5CB42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67716-966D-4893-8F51-C7E4098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Imagery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387D5-A500-4309-B30F-640EDEF1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481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Earth Search + rasterio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06DAD-E2B9-4ABA-9EB8-00C5EFD1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481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Scene search, plot crop and NDVI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B195D-3FB7-44FB-8D0D-F0C3212E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BEDAC-965E-4E42-BBDA-ECFA6A6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BC388-CABD-426B-9EDF-333DB1E2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5720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F1959-8FEE-4DB1-9004-FC3EE737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720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Validated ranking when configured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E641B-C9C8-4A2D-9CB6-5E2003EA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339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B778B-6758-4D25-B49D-8FD64404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0022D-71B4-4043-8324-8F190C75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959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Local dated cache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A9B951-B7EF-4026-B500-7D8A071A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959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Repeatable classroom demonstration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514E9-D3AB-4B16-9682-E7010E0E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FD8C9-2585-4D59-8FDE-753A6E4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0839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The API key will be kept in a local environment variable, outside the project code.</a:t>
            </a:r>
          </a:p>
        </p:txBody>
      </p:sp>
    </p:spTree>
    <p:extLst>
      <p:ext uri="{BB962C8B-B14F-4D97-AF65-F5344CB8AC3E}">
        <p14:creationId xmlns:p14="http://schemas.microsoft.com/office/powerpoint/2010/main" val="1526606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734B2-C48D-4462-9AAC-50093D4E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IMPLEMENTATION &amp; TECHNICAL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13635-6142-4B95-A2F0-092CB507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Implemented checks and remaining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189F1-0E04-4216-B89A-3227A94F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3E8CC-46B4-412E-8B45-498EDA5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28E2C-0FA7-427E-B686-A80CE8B2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C6AFC-3484-4017-B0F5-635A276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8117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Draw or enter a rectangle; fetch its seven-day forecast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1D2C9-7EC3-4223-9736-A0CCD8B3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260E8-B02C-4BF2-9FA6-7EC362C6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14608-CF78-437F-821A-835ACC09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2412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Search Sentinel-2 by rectangle and show scene 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FC1FC-6018-469F-AD0D-86F78F1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96B2C-F882-4D4C-B863-735AC6D9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597EC-C250-4714-AF3A-8A1E65B1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6707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Mask clouds and calculate NDVI for usable pixels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CCFE7-EEF3-443D-B1BF-77613599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8B691-B151-4C96-BBBE-A82E3274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1C7A1-D66D-4C30-BDE4-AC8A9883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002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Show evidence-backed checks and test failure paths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28A94-91DE-4AB2-8168-8D2B84B6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5FBBC-8497-4100-BCFD-1267F582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02DA6-6EFF-42E9-85BE-7CADF88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5297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Complete one live Gemini call with a local API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60ED4-A8E3-4560-81B5-4F538474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5D4AB-F316-4321-8BB0-7786B07B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2505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Completion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9F49E-0F8E-4DD8-A5AD-E5189F17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29275"/>
            <a:ext cx="866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Three distinct regions returned live weather and satellite results. The fallback needs no key.</a:t>
            </a:r>
          </a:p>
        </p:txBody>
      </p:sp>
    </p:spTree>
    <p:extLst>
      <p:ext uri="{BB962C8B-B14F-4D97-AF65-F5344CB8AC3E}">
        <p14:creationId xmlns:p14="http://schemas.microsoft.com/office/powerpoint/2010/main" val="813734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55E6F-11E3-4789-9938-0ED11EA4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RESULTS /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3985A-3EA4-4ED4-AE4B-8DF00C50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Karnal live vegetation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0E3C-7734-43DE-B2C3-9E3A8E80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E15AD-40D4-432A-A0FA-0CAF69D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3B02B-4E97-4F60-98C0-194685A98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eb5a57d494c50"/>
          <a:stretch xmlns:a="http://schemas.openxmlformats.org/drawingml/2006/main"/>
        </p:blipFill>
        <p:spPr>
          <a:xfrm xmlns:a="http://schemas.openxmlformats.org/drawingml/2006/main">
            <a:off x="594360" y="1743075"/>
            <a:ext cx="7040880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B1234-F9FF-4CAD-83E6-32CF15C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Karnal, India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B95BC-33AE-4F42-B7EE-1D2A8F97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Mean NDVI  0.458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AC043-1D8E-4F33-AA7B-F76E7E3F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Usable pixels  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DF1D2-3303-4374-8E22-A3D1AA75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350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Scene acquired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25 Oct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4A955-8CC6-4B11-9815-F1DD7D05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350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Live fetch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30 Oct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C9AB1-A36E-42BD-9CE5-5F6DF43C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769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Three regions checked live: India, France and Australia.</a:t>
            </a:r>
          </a:p>
        </p:txBody>
      </p:sp>
    </p:spTree>
    <p:extLst>
      <p:ext uri="{BB962C8B-B14F-4D97-AF65-F5344CB8AC3E}">
        <p14:creationId xmlns:p14="http://schemas.microsoft.com/office/powerpoint/2010/main" val="1916318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35053-8B54-461E-A71E-C18FE4D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9BDE2-8CDC-475B-9ACE-0456D3AB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What CropScope does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055DA-3400-4E4E-BF32-B56EE5F0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97856-0DF7-49E1-9ED5-130B5CC2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4C465-CA8B-4736-BFE5-0A032146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 focused decision-support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A5705-99C8-4CED-BD12-7708CA72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It combines a seven-day forecast with a dated satellite vegetation observation for a user-selected rectangle.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0ECCD-141A-4812-AE4A-53BC22F2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715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It shows evidence-linked checks, with a rule-based fallback when Gemini is unavailable.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F948E-E9E0-41BF-B413-B96B97FB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3C2A3-529A-40A4-8F3A-9F46712F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48275"/>
            <a:ext cx="1064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The live Gemini acceptance check remains after a local API key is configured.</a:t>
            </a:r>
          </a:p>
        </p:txBody>
      </p:sp>
    </p:spTree>
    <p:extLst>
      <p:ext uri="{BB962C8B-B14F-4D97-AF65-F5344CB8AC3E}">
        <p14:creationId xmlns:p14="http://schemas.microsoft.com/office/powerpoint/2010/main" val="656253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F8A25-0B3A-4E9E-8FDC-1ABF3025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CB4F0-D434-4558-A52C-F40CB724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64821-D554-4173-8C6A-6FCC3779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4782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2D645-ACA3-43E9-8E24-AD0E6D50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Discussion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785AF-F707-47E1-AD95-03E843C1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9906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Data sources and freshness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NDVI interpretation and cloud limits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How AI uses the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B925B-DBF8-4FCC-BE80-5AA093A8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0AF8D-024F-4A81-B613-BB73CDC3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5324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Shreyash Shukla  ·  23BCP089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579CA-3846-4B5B-83A6-0A59ADD9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648325"/>
            <a:ext cx="5038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Parth Parekh  ·  23BCP083</a:t>
            </a:r>
          </a:p>
        </p:txBody>
      </p:sp>
    </p:spTree>
    <p:extLst>
      <p:ext uri="{BB962C8B-B14F-4D97-AF65-F5344CB8AC3E}">
        <p14:creationId xmlns:p14="http://schemas.microsoft.com/office/powerpoint/2010/main" val="1432038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2026-10-30T18:33:28.8580000Z</dcterms:created>
  <dcterms:modified xsi:type="dcterms:W3CDTF">2026-10-30T18:33:28.8580000Z</dcterms:modified>
</coreProperties>
</file>