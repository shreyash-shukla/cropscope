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04efe4ad1b4462" /><Relationship Type="http://schemas.openxmlformats.org/officeDocument/2006/relationships/extended-properties" Target="/docProps/app.xml" Id="R2469d7adb6ae4032" /><Relationship Type="http://schemas.openxmlformats.org/officeDocument/2006/relationships/officeDocument" Target="/ppt/presentation.xml" Id="Rdb045ae13699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fbc4f3e0634ae0"/>
  </p:sldMasterIdLst>
  <p:notesMasterIdLst>
    <p:notesMasterId xmlns:r="http://schemas.openxmlformats.org/officeDocument/2006/relationships" r:id="R6f4660483dd54c3c"/>
  </p:notesMasterIdLst>
  <p:sldIdLst>
    <p:sldId xmlns:r="http://schemas.openxmlformats.org/officeDocument/2006/relationships" id="256" r:id="R797dfb512cf14535"/>
    <p:sldId xmlns:r="http://schemas.openxmlformats.org/officeDocument/2006/relationships" id="257" r:id="Rdd710cf6e5814921"/>
    <p:sldId xmlns:r="http://schemas.openxmlformats.org/officeDocument/2006/relationships" id="258" r:id="R6d08b34b6bc74997"/>
    <p:sldId xmlns:r="http://schemas.openxmlformats.org/officeDocument/2006/relationships" id="259" r:id="R6d94231fcf5d4b1a"/>
    <p:sldId xmlns:r="http://schemas.openxmlformats.org/officeDocument/2006/relationships" id="260" r:id="R186e82fce0db414e"/>
    <p:sldId xmlns:r="http://schemas.openxmlformats.org/officeDocument/2006/relationships" id="261" r:id="R5ea0620f8e704814"/>
    <p:sldId xmlns:r="http://schemas.openxmlformats.org/officeDocument/2006/relationships" id="262" r:id="Rd13b4307275d45dc"/>
    <p:sldId xmlns:r="http://schemas.openxmlformats.org/officeDocument/2006/relationships" id="263" r:id="R907621b7392b47ac"/>
    <p:sldId xmlns:r="http://schemas.openxmlformats.org/officeDocument/2006/relationships" id="264" r:id="Re51438700db64be2"/>
    <p:sldId xmlns:r="http://schemas.openxmlformats.org/officeDocument/2006/relationships" id="265" r:id="Rc377a5acb81c49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fb161261a34e9a" /><Relationship Type="http://schemas.openxmlformats.org/officeDocument/2006/relationships/slideMaster" Target="/ppt/slideMasters/slideMaster1.xml" Id="R99fbc4f3e0634ae0" /><Relationship Type="http://schemas.openxmlformats.org/officeDocument/2006/relationships/notesMaster" Target="/ppt/notesMasters/notesMaster1.xml" Id="R6f4660483dd54c3c" /><Relationship Type="http://schemas.openxmlformats.org/officeDocument/2006/relationships/presProps" Target="/ppt/presProps.xml" Id="Rfc7d3f99ee264eb8" /><Relationship Type="http://schemas.openxmlformats.org/officeDocument/2006/relationships/tableStyles" Target="/ppt/tableStyles.xml" Id="Rffc437e943724245" /><Relationship Type="http://schemas.openxmlformats.org/officeDocument/2006/relationships/slide" Target="/ppt/slides/slide1.xml" Id="R797dfb512cf14535" /><Relationship Type="http://schemas.openxmlformats.org/officeDocument/2006/relationships/slide" Target="/ppt/slides/slide2.xml" Id="Rdd710cf6e5814921" /><Relationship Type="http://schemas.openxmlformats.org/officeDocument/2006/relationships/slide" Target="/ppt/slides/slide3.xml" Id="R6d08b34b6bc74997" /><Relationship Type="http://schemas.openxmlformats.org/officeDocument/2006/relationships/slide" Target="/ppt/slides/slide4.xml" Id="R6d94231fcf5d4b1a" /><Relationship Type="http://schemas.openxmlformats.org/officeDocument/2006/relationships/slide" Target="/ppt/slides/slide5.xml" Id="R186e82fce0db414e" /><Relationship Type="http://schemas.openxmlformats.org/officeDocument/2006/relationships/slide" Target="/ppt/slides/slide6.xml" Id="R5ea0620f8e704814" /><Relationship Type="http://schemas.openxmlformats.org/officeDocument/2006/relationships/slide" Target="/ppt/slides/slide7.xml" Id="Rd13b4307275d45dc" /><Relationship Type="http://schemas.openxmlformats.org/officeDocument/2006/relationships/slide" Target="/ppt/slides/slide8.xml" Id="R907621b7392b47ac" /><Relationship Type="http://schemas.openxmlformats.org/officeDocument/2006/relationships/slide" Target="/ppt/slides/slide9.xml" Id="Re51438700db64be2" /><Relationship Type="http://schemas.openxmlformats.org/officeDocument/2006/relationships/slide" Target="/ppt/slides/slide10.xml" Id="Rc377a5acb81c49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817957f3c742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5410bba3434fe4" /><Relationship Type="http://schemas.openxmlformats.org/officeDocument/2006/relationships/notesMaster" Target="/ppt/notesMasters/notesMaster1.xml" Id="R23e7111a74fd453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3965bc542d455e" /><Relationship Type="http://schemas.openxmlformats.org/officeDocument/2006/relationships/notesMaster" Target="/ppt/notesMasters/notesMaster1.xml" Id="Rf530b9046d6548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ba5681d0124f23" /><Relationship Type="http://schemas.openxmlformats.org/officeDocument/2006/relationships/notesMaster" Target="/ppt/notesMasters/notesMaster1.xml" Id="Rc2539c58062042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d46b31b64e4807" /><Relationship Type="http://schemas.openxmlformats.org/officeDocument/2006/relationships/notesMaster" Target="/ppt/notesMasters/notesMaster1.xml" Id="Rbf79ca08cb8041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e5717849854702" /><Relationship Type="http://schemas.openxmlformats.org/officeDocument/2006/relationships/notesMaster" Target="/ppt/notesMasters/notesMaster1.xml" Id="R5c30ba88fb8b4f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86b83232c24a12" /><Relationship Type="http://schemas.openxmlformats.org/officeDocument/2006/relationships/notesMaster" Target="/ppt/notesMasters/notesMaster1.xml" Id="R1b07af6c787d4c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41fbe21b1f422f" /><Relationship Type="http://schemas.openxmlformats.org/officeDocument/2006/relationships/notesMaster" Target="/ppt/notesMasters/notesMaster1.xml" Id="R2ad17c1ead864d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e295b5b316489c" /><Relationship Type="http://schemas.openxmlformats.org/officeDocument/2006/relationships/notesMaster" Target="/ppt/notesMasters/notesMaster1.xml" Id="R9ea9f53f59e346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45580e380f4a44" /><Relationship Type="http://schemas.openxmlformats.org/officeDocument/2006/relationships/notesMaster" Target="/ppt/notesMasters/notesMaster1.xml" Id="R78b4caa0399745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8040b847824dbf" /><Relationship Type="http://schemas.openxmlformats.org/officeDocument/2006/relationships/notesMaster" Target="/ppt/notesMasters/notesMaster1.xml" Id="Rebac7897d6e74b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CropScope as a decision-support prototype. Weather and NDVI ran live in three regions. A Gemini 3.1 Flash-Lite ranking succeeded on 31 October 2026 with the dated Karnal evidence; the fallback remains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project does not claim to replace farmer judgment or provide verified diagnosis. Scope excludes IoT sensors.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user can draw or enter a rectangle anywhere within the supported analysis size. Weather and satellite observations are independent inputs. Code proposes checks; Gemini can rank them when configured.</a:t>
            </a:r>
          </a:p>
          <a:p xmlns:a="http://schemas.openxmlformats.org/drawingml/2006/main">
            <a:r>
              <a:t>Source: https://open-meteo.com/en/docs</a:t>
            </a:r>
          </a:p>
          <a:p xmlns:a="http://schemas.openxmlformats.org/drawingml/2006/main">
            <a:r>
              <a:t>Source: https://github.com/Element84/earth-search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Sentinel-2 Level-2A red band B04 and near-infrared band B08. Show acquisition dates and the share of usable pixels. ET₀ is reference evapotranspiration, not measured soil moisture.</a:t>
            </a:r>
          </a:p>
          <a:p xmlns:a="http://schemas.openxmlformats.org/drawingml/2006/main">
            <a:r>
              <a:t>Source: https://open-meteo.com/en/docs</a:t>
            </a:r>
          </a:p>
          <a:p xmlns:a="http://schemas.openxmlformats.org/drawingml/2006/main">
            <a:r>
              <a:t>Source: https://earth-search.aws.element84.com/v1/api.html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live Gemini 3.1 Flash-Lite ranking succeeded on 31 October 2026 with the dated Karnal evidence. The screenshot from 30 October shows the earlier fallback. The model may only select action and evidence IDs; displayed advice is code-controlled.</a:t>
            </a:r>
          </a:p>
          <a:p xmlns:a="http://schemas.openxmlformats.org/drawingml/2006/main">
            <a:r>
              <a:t>Source: https://ai.google.dev/api/generate-content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Python app uses app.py, weather.py, satellite.py, recommendations.py, ai.py, analysis.py and cache.py. The key is never stored in source code.</a:t>
            </a:r>
          </a:p>
          <a:p xmlns:a="http://schemas.openxmlformats.org/drawingml/2006/main">
            <a:r>
              <a:t>Source: https://open-meteo.com/en/docs</a:t>
            </a:r>
          </a:p>
          <a:p xmlns:a="http://schemas.openxmlformats.org/drawingml/2006/main">
            <a:r>
              <a:t>Source: https://github.com/Element84/earth-search</a:t>
            </a:r>
          </a:p>
          <a:p xmlns:a="http://schemas.openxmlformats.org/drawingml/2006/main">
            <a:r>
              <a:t>Source: https://ai.google.dev/api/generate-content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checks on 30 October 2026 covered India, France and Australia. A live Gemini 3.1 Flash-Lite call succeeded on 31 October. Weather-only, satellite-only, neither-source and same-area cache paths also have automated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 from a live CropScope analysis of the exact Karnal example rectangle on 30 October 2026. Mean NDVI 0.458498; 100% usable pixels; Sentinel-2 scene S2B_T43RFN_20261025T053358_L2A. Weather forecast dates 30 October through 5 November. The recommendation screenshot from that day used the labeled rule-based fallback. A separate live Gemini ranking succeeded on 31 October. Sources: Open-Meteo, Element 84 Earth Search, Copernicus Sentinel-2.</a:t>
            </a:r>
          </a:p>
          <a:p xmlns:a="http://schemas.openxmlformats.org/drawingml/2006/main">
            <a:r>
              <a:t>Source: https://earth-search.aws.element84.com/v1/collections/sentinel-2-c1-l2a/items/S2B_T43RFN_20261025T053358_L2A</a:t>
            </a:r>
          </a:p>
          <a:p xmlns:a="http://schemas.openxmlformats.org/drawingml/2006/main">
            <a:r>
              <a:t>Source: https://open-meteo.com/en/docs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prototype remains decision support. The model ranking was tested with mocked responses and a successful live call; the app still falls back to rules if Gemini is unavailable.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questions. Live weather and satellite paths ran for three areas on 30 October 2026. The live Gemini ranking succeeded on 31 October.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01310e6b544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cd27d12daf4b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a0c4d1c4947c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da3e28c18d43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851dd20e3d40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d41962ded64b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3F95C0-E78A-4A5A-8ADF-62EF6DCB6E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4F61A6-212D-45E9-8EFE-B453BA0A476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CBF069A-7FBD-4D88-AAA0-F613AB116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F2C3C5-B963-412E-9EA4-E5CC7E94B4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D25D511-D6F6-4E17-B668-EE2D36AE82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BC4BE4-F183-42C2-949E-B1B2C4E5F1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BEFBE87-D3EB-46BF-9B4E-81481BD642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0ABE63-FCF1-4396-9C04-7D15C233CB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0835A0-F107-4EB5-ABFF-486F3E3F65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BA9659-AD57-4188-BAFC-98E6A9D33E7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c5ba48ba4b41b8" /><Relationship Type="http://schemas.openxmlformats.org/officeDocument/2006/relationships/slideLayout" Target="/ppt/slideLayouts/slideLayout1.xml" Id="Rf67b5033465f4b0d" /><Relationship Type="http://schemas.openxmlformats.org/officeDocument/2006/relationships/slideLayout" Target="/ppt/slideLayouts/slideLayout2.xml" Id="R158fcabf91b6493d" /><Relationship Type="http://schemas.openxmlformats.org/officeDocument/2006/relationships/slideLayout" Target="/ppt/slideLayouts/slideLayout3.xml" Id="R3bc128e76c4c41f6" /><Relationship Type="http://schemas.openxmlformats.org/officeDocument/2006/relationships/slideLayout" Target="/ppt/slideLayouts/slideLayout4.xml" Id="Rd939269b67fd41d7" /><Relationship Type="http://schemas.openxmlformats.org/officeDocument/2006/relationships/slideLayout" Target="/ppt/slideLayouts/slideLayout5.xml" Id="R071ffc89cd2c496c" /><Relationship Type="http://schemas.openxmlformats.org/officeDocument/2006/relationships/slideLayout" Target="/ppt/slideLayouts/slideLayout6.xml" Id="R576ff158167543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67b5033465f4b0d"/>
    <p:sldLayoutId xmlns:r="http://schemas.openxmlformats.org/officeDocument/2006/relationships" id="2147483650" r:id="R158fcabf91b6493d"/>
    <p:sldLayoutId xmlns:r="http://schemas.openxmlformats.org/officeDocument/2006/relationships" id="2147483651" r:id="R3bc128e76c4c41f6"/>
    <p:sldLayoutId xmlns:r="http://schemas.openxmlformats.org/officeDocument/2006/relationships" id="2147483652" r:id="Rd939269b67fd41d7"/>
    <p:sldLayoutId xmlns:r="http://schemas.openxmlformats.org/officeDocument/2006/relationships" id="2147483653" r:id="R071ffc89cd2c496c"/>
    <p:sldLayoutId xmlns:r="http://schemas.openxmlformats.org/officeDocument/2006/relationships" id="2147483654" r:id="R576ff158167543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9c4b07a06340ac" /><Relationship Type="http://schemas.openxmlformats.org/officeDocument/2006/relationships/notesSlide" Target="/ppt/notesSlides/notesSlide1.xml" Id="R3888305a47674b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07f362c8b4649" /><Relationship Type="http://schemas.openxmlformats.org/officeDocument/2006/relationships/notesSlide" Target="/ppt/notesSlides/notesSlide2.xml" Id="Rf91ecc2ef4d540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bd6fbcd4d4051" /><Relationship Type="http://schemas.openxmlformats.org/officeDocument/2006/relationships/notesSlide" Target="/ppt/notesSlides/notesSlide3.xml" Id="Rdf0ed235de4541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996787ebf54f9d" /><Relationship Type="http://schemas.openxmlformats.org/officeDocument/2006/relationships/notesSlide" Target="/ppt/notesSlides/notesSlide4.xml" Id="Rb43ae3c1c5a046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63c0355aa24121" /><Relationship Type="http://schemas.openxmlformats.org/officeDocument/2006/relationships/notesSlide" Target="/ppt/notesSlides/notesSlide5.xml" Id="R6d738599b0e542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33ac4e9c66406d" /><Relationship Type="http://schemas.openxmlformats.org/officeDocument/2006/relationships/notesSlide" Target="/ppt/notesSlides/notesSlide6.xml" Id="R8c7efa0e643c43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c2b4feeefa48bd" /><Relationship Type="http://schemas.openxmlformats.org/officeDocument/2006/relationships/notesSlide" Target="/ppt/notesSlides/notesSlide7.xml" Id="Re75c4b0420754f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a8d0fc2a2445a" /><Relationship Type="http://schemas.openxmlformats.org/officeDocument/2006/relationships/image" Target="/ppt/media/image.png" Id="R36a6818cbfae46ee" /><Relationship Type="http://schemas.openxmlformats.org/officeDocument/2006/relationships/notesSlide" Target="/ppt/notesSlides/notesSlide8.xml" Id="R48aeea373e8f42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d314f6a264ae7" /><Relationship Type="http://schemas.openxmlformats.org/officeDocument/2006/relationships/notesSlide" Target="/ppt/notesSlides/notesSlide9.xml" Id="R0e95b1dd7b2544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ec774b0ceb4709" /><Relationship Type="http://schemas.openxmlformats.org/officeDocument/2006/relationships/notesSlide" Target="/ppt/notesSlides/notesSlide10.xml" Id="R929c14a89bb04e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A1E22-9515-442D-A4A2-16DD3527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0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INTRODUCTION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E47EF-F043-46B1-AE03-0C604A28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E18782-9FB9-4C71-A016-C07F6BF1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19200"/>
            <a:ext cx="1057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5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CropScope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D9CF5-ED03-4728-8ED5-937703A6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1066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Selected-area weather, Sentinel-2 vegetation data and evidence-backed field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3A7BA-FCB1-4438-BF50-59FC428D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243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3DB91-DB1D-4E4E-B8E7-8D2CD3F2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6725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Shreyash Shukla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B02F94-0B57-4891-BCAC-5527A801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76825"/>
            <a:ext cx="504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23BCP089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46E38-64EF-4E1B-AD70-55A48928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667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Parth Parekh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EC480-14CD-400F-8556-84D015B8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076825"/>
            <a:ext cx="4762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23BCP083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C5ED5-5B25-4F84-BC85-2FFD03FCF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Minor project demo  |  30 October 2026</a:t>
            </a:r>
          </a:p>
        </p:txBody>
      </p:sp>
    </p:spTree>
    <p:extLst>
      <p:ext uri="{BB962C8B-B14F-4D97-AF65-F5344CB8AC3E}">
        <p14:creationId xmlns:p14="http://schemas.microsoft.com/office/powerpoint/2010/main" val="1572837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2248B-E57B-47BA-A08B-803085E1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PROBLEM &amp;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927D0-894F-42CB-87DA-6647AD96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The decision gap for farmers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3C7CB-5E54-42C7-A70B-89CE2EF6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2132D-8040-4C92-B00B-5EB860D4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1088A-32B6-4CB7-9B44-A1F5E053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19275"/>
            <a:ext cx="471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Current challenge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AB452-7833-4DEC-BFB7-AA93AC16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50006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Weather forecasts describe conditions around a farm, but they do not show whether vegetation in a particular plot is changing.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E81A3E-B0B9-4B76-A64B-5FB28685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95725"/>
            <a:ext cx="5000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Satellite images can reveal vegetation patterns, but an image alone does not tell a farmer what to check next.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9A9A6-8071-4452-859E-61215DFF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478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C4A58-1E87-4027-8993-A713978AB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819275"/>
            <a:ext cx="481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Project response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AE379-BB0C-4B1A-AA53-9AAF6A1D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8101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Combine a recent vegetation observation with upcoming weather and the user’s crop information.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54655E-5352-4CEE-ADF6-52034AF4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895725"/>
            <a:ext cx="48101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Turn those inputs into concise recommendations that show the supporting evidence and its 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8CF0C-1603-477F-BF08-0B7430D2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0982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3CF05-9315-43B9-9AA6-03126D86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34050"/>
            <a:ext cx="10839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Goal: useful decision support for one selected plot, without requiring IoT hardware.</a:t>
            </a:r>
          </a:p>
        </p:txBody>
      </p:sp>
    </p:spTree>
    <p:extLst>
      <p:ext uri="{BB962C8B-B14F-4D97-AF65-F5344CB8AC3E}">
        <p14:creationId xmlns:p14="http://schemas.microsoft.com/office/powerpoint/2010/main" val="3532694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75B3A-652F-4EB9-804F-C107219A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DESIGN &amp;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D5EB10-9D87-4F82-B4A2-AD3A011F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From plot information to advice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F9FE8-300E-4922-AA46-E33F324B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AF8E9-BBBF-4E26-BDCB-0FB4231DE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8845A-3E59-49B5-90AD-80C16AA4D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76475"/>
            <a:ext cx="1809750" cy="21717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EFF6F8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14CD8B-1EE4-45BA-979F-177224F7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57450"/>
            <a:ext cx="1524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User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797598-15C7-40E8-9699-68481312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00375"/>
            <a:ext cx="1524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Plot location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Crop and 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30C7A-2962-468B-B674-071DB9AD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133725"/>
            <a:ext cx="342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3E5558-F117-4079-8C12-C0C63A5C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76475"/>
            <a:ext cx="2000250" cy="21717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06A65-8555-4B5C-AEB7-95B0661F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457450"/>
            <a:ext cx="1714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Weather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9C9303-6F41-4EB0-A9F0-C02F7F13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00375"/>
            <a:ext cx="1714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Rain forecast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Temperature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ET₀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50D17-C5DE-4540-A1B1-C51778BF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33725"/>
            <a:ext cx="342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6D0FC5-E2A1-45B1-BC95-FAF6C4F8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276475"/>
            <a:ext cx="2105025" cy="2171700"/>
          </a:xfrm>
          <a:prstGeom xmlns:a="http://schemas.openxmlformats.org/drawingml/2006/main" prst="roundRect">
            <a:avLst>
              <a:gd name="adj" fmla="val 4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7860D7-B807-447E-9DB1-0CE3E3FA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457450"/>
            <a:ext cx="18192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Satellite 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5930F-1F6E-452F-BA85-7FDE2F4B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00375"/>
            <a:ext cx="181927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Sentinel-2 scene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Red + NIR bands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5A5AC6-9F28-4E66-9394-28E7F5B3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33725"/>
            <a:ext cx="342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01C89B-42E6-4D70-A252-71E23A64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76475"/>
            <a:ext cx="1752600" cy="217170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49D76-B794-4E3D-89D4-488F616B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57450"/>
            <a:ext cx="1466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8E2BCC-686C-445E-9F44-CEF76F93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00375"/>
            <a:ext cx="1466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Cloud filter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NDVI summary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79BE9-3D80-4071-8E40-8A5C2D19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33725"/>
            <a:ext cx="342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ctr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lnSpc>
                <a:spcPct val="113000"/>
              </a:lnSpc>
              <a:buNone/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803C0B-53AD-4403-895E-2DEEDEAA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76475"/>
            <a:ext cx="1752600" cy="217170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B6994-AA40-4942-9051-4C20BAAD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14668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AI advice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11F568-8E2A-4390-8A88-C658AF7A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000375"/>
            <a:ext cx="14668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Ranked actions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Reasons + caution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7B9433-AEBF-4A74-A530-80426ADB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485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28"/>
          </a:bodyPr>
          <a:lstStyle xmlns:a="http://schemas.openxmlformats.org/drawingml/2006/main">
            <a:def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What the user sees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3D2B94-60BF-4FD2-B7DB-4B19B1A5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10829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A dated weather summary, a vegetation indicator, and recommended next steps linked to those inputs.</a:t>
            </a:r>
          </a:p>
        </p:txBody>
      </p:sp>
    </p:spTree>
    <p:extLst>
      <p:ext uri="{BB962C8B-B14F-4D97-AF65-F5344CB8AC3E}">
        <p14:creationId xmlns:p14="http://schemas.microsoft.com/office/powerpoint/2010/main" val="10479823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C00EE-F3C6-45F4-A198-A74A56A9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DESIGN &amp;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40E47-2536-49BC-B660-D9FB1647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How the input data are processed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ED2409-58E6-475A-9421-B2350D19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712940-C99C-4B8B-8756-4EC9A345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20E8-CA05-4232-909D-10C45640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5000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Weather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CE42DB-E754-4DF4-B2D7-28772BAA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50387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Open-Meteo supplies a seven-day forecast for the plot coordinates.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4D5BD1-B0CC-405F-89BF-457114EE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67075"/>
            <a:ext cx="5038725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The app extracts daily rainfall, maximum temperature and reference evapotranspiration (ET₀).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AF519-E5BB-46FE-820B-1B5ED156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47850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B605D-89A2-4D01-B5F4-FC467887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1847850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Satellite imagery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6B8F3-EB13-4C51-B7E9-9605A082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286000"/>
            <a:ext cx="48577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Earth Search locates a recent, low-cloud Sentinel-2 scene for the same area.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64348-4FC6-4AE5-AE08-B8276737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362325"/>
            <a:ext cx="48577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The app crops the selected area, removes cloudy pixels and computes NDVI from red and near-infrared bands.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410B43-A25A-4FE2-9AE5-A7F66D1D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339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922AE-1DE2-416B-88A9-5446A489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657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7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NDVI = (NIR − Red) / (NIR + Red)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3BF69E-E6CB-4081-B275-6D237728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34075"/>
            <a:ext cx="1064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0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NDVI is a vegetation indicator, not a disease diagnosis.</a:t>
            </a:r>
          </a:p>
        </p:txBody>
      </p:sp>
    </p:spTree>
    <p:extLst>
      <p:ext uri="{BB962C8B-B14F-4D97-AF65-F5344CB8AC3E}">
        <p14:creationId xmlns:p14="http://schemas.microsoft.com/office/powerpoint/2010/main" val="20275406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CB0044-539D-4630-B6E5-67DD7658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DESIGN &amp; METHODOLOGY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8D984-5A15-46BF-B8A3-550843BA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How recommendations are selected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5ADBF-F54F-4C5F-9632-DB1814DF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40C53B-3C1D-4F09-A531-0A9B489E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AD8EC1-BE95-4CEB-9441-6F938E31B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Code prepares candidates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5E0F4-9797-45EB-87D1-9A70EBAD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4714875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Crop and growth stage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Dated weather observations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NDVI and usable-pixel share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Safe field checks with evidence 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F4E86-5007-4DEB-8D52-E21CDD20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19275"/>
            <a:ext cx="0" cy="2686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4BE0A7-A435-4425-9A07-5173FFF0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828800"/>
            <a:ext cx="447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Ranking and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193C4-2BD2-46BC-92FF-6CDD5D8A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286000"/>
            <a:ext cx="4857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Gemini selects action and evidence IDs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Code rejects unsupported selections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A rule-based fallback works offline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Displayed wording comes from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D7728A-BA8B-481B-B9DF-DABC522D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0982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D2422-3769-4BBF-A683-2F0DBF9D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3562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397"/>
          </a:bodyPr>
          <a:lstStyle xmlns:a="http://schemas.openxmlformats.org/drawingml/2006/main">
            <a:def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Example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22AAC-209A-4487-9D53-FFD7434A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107156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When rain is scarce and reference ET₀ is high, the app suggests checking soil moisture on site.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5CC1A-4DF7-46CF-B3DE-A05B8704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72200"/>
            <a:ext cx="1057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A live Gemini ranking succeeded on 31 Oct 2026. No exact water or fertilizer dose is proposed.</a:t>
            </a:r>
          </a:p>
        </p:txBody>
      </p:sp>
    </p:spTree>
    <p:extLst>
      <p:ext uri="{BB962C8B-B14F-4D97-AF65-F5344CB8AC3E}">
        <p14:creationId xmlns:p14="http://schemas.microsoft.com/office/powerpoint/2010/main" val="8470486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6417F4-B982-4F21-96E7-776455D3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IMPLEMENTATION &amp; TECHNICAL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AB4166-7ACD-4675-B3B8-CE65370D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 small Python application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0642E-6E79-490A-8E65-70CA227B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A0F90-9BD0-42BE-9308-39DBBDA2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FCA01D-E48D-468B-83D5-3780367A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Component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2A423-40A1-4F73-84A1-720AF2B5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828800"/>
            <a:ext cx="2790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Tool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24DC54-34BC-4626-A6C7-3122FC42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28800"/>
            <a:ext cx="5095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5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Responsibility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6BD248-02AA-4F01-8F96-36F92C8A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2885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31F73-B6F9-4B28-B58B-FE1F330B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2200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Interface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64960-DFA6-449E-B424-A8796852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400300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Streamlit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C4D684-DFB1-45A5-AA3E-28DF62F1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03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Plot inputs and results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9EC41-4CE2-435B-9EB3-F824E91C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1B6BF-C91C-4FD3-8A8B-249FFDCF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2200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Weather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78A5A9-F6B7-4431-8C2E-277499E9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24200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Open-Meteo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286187-BCF2-45BD-9422-7D1B7A9E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Forecast request and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F6351-0204-47D3-A6BA-5D36CE7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B89EB0-F295-428E-B67F-D13DA36F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48100"/>
            <a:ext cx="2200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Imagery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F035C1-14C0-4D31-83E5-CA623C9B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848100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Earth Search + rasterio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7B416E-4AA9-4148-BFB9-DE7CBCBE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8481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Scene search, plot crop and NDVI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0A301-AD20-41FE-87E7-F9CF7A30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D19B9-E9B2-4D9C-B53A-067DFE1E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72000"/>
            <a:ext cx="2200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719B83-EF89-4614-97C9-16BB18E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572000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Gemini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9B85F9-4AD5-4040-952C-92996D72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720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Validated ranking when configured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6AA975-DF30-4524-A4F8-18539364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339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765F64-7D8B-4D58-AA6B-3AC355A9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22002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DC4549-2603-4CF9-89E2-FEF92493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5295900"/>
            <a:ext cx="29241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Local dated cache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4F02BF-2508-4B5A-B8BE-911DBFD7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95900"/>
            <a:ext cx="5010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Repeatable classroom demonstration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B4B51-171B-49FC-B0C7-D26C6305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102DEE-3095-4814-9A39-F82EB352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34100"/>
            <a:ext cx="10839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The API key will be kept in a local environment variable, outside the project code.</a:t>
            </a:r>
          </a:p>
        </p:txBody>
      </p:sp>
    </p:spTree>
    <p:extLst>
      <p:ext uri="{BB962C8B-B14F-4D97-AF65-F5344CB8AC3E}">
        <p14:creationId xmlns:p14="http://schemas.microsoft.com/office/powerpoint/2010/main" val="1389071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8901E-2BF4-40DC-A317-F54D05C0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IMPLEMENTATION &amp; TECHNICAL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C63C1-32F0-4C4A-81D9-3DED6C11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Implementation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6B866-99F6-4A1C-AC0F-06B85CB9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6B0DD-3165-45B6-BA47-8BB573FB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C0A31-E9C5-4743-879F-1EBF8417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20C92-005B-44FB-812E-458B034C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781175"/>
            <a:ext cx="8734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Draw or enter a rectangle; fetch its seven-day forecast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71D05-DC03-471D-BD64-99DDEDEB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7172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99D27-C72C-428D-8452-7924B35D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11C16-C808-434A-B195-BA210619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24125"/>
            <a:ext cx="8734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Search Sentinel-2 by rectangle and show scene provenance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3A267-7415-487D-9EB7-228C3997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EAFAE-C502-4078-B451-DB12A457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6707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63F53-B004-4A4C-8CE0-7744C621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67075"/>
            <a:ext cx="8734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Mask clouds and calculate NDVI for usable pixels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62C89-FBCC-4656-A1DF-A0258C09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5762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5EE09-3849-4BBB-8599-1048A7D4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002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20A99-B9A5-41F9-9593-BAF5897C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10025"/>
            <a:ext cx="8734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Show evidence-backed checks and test failure paths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0D9EC-B0A4-4849-8BCD-3BC6678E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005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2FE57A-3D91-44F4-BBB1-013AE463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828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Complete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F07F5F-930D-4774-AFD4-FB790315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752975"/>
            <a:ext cx="87344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0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Validate a live Gemini ranking with a local API key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03F6FD-4C86-41AF-B46E-AA4D961A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4352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CF6186-69CA-4442-988C-476578B5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25050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Completion check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B16D80-4E7B-42B3-A489-FEFF127A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629275"/>
            <a:ext cx="8667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Three regions returned live weather and imagery. Gemini ranked the dated Karnal evidence.</a:t>
            </a:r>
          </a:p>
        </p:txBody>
      </p:sp>
    </p:spTree>
    <p:extLst>
      <p:ext uri="{BB962C8B-B14F-4D97-AF65-F5344CB8AC3E}">
        <p14:creationId xmlns:p14="http://schemas.microsoft.com/office/powerpoint/2010/main" val="11037975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E16DB-1EB1-48FD-A797-EEB84E80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RESULTS /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72CAD-BBC9-41ED-9682-BDAD2375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Karnal live vegetation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CD5B44-3FE3-400D-9981-035D866F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C38AF-F948-4E0C-AA1A-82E55827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3759EB-1284-43DB-AE7C-0DDDC40D0C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6818cbfae46ee"/>
          <a:stretch xmlns:a="http://schemas.openxmlformats.org/drawingml/2006/main"/>
        </p:blipFill>
        <p:spPr>
          <a:xfrm xmlns:a="http://schemas.openxmlformats.org/drawingml/2006/main">
            <a:off x="594360" y="1743075"/>
            <a:ext cx="7040880" cy="4400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198A0-0B80-451F-8FA1-2BDFD960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76425"/>
            <a:ext cx="35052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Karnal, India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AEDEE-D870-4AAE-AF90-F842B272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384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Mean NDVI  0.458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31CC4-F1FB-4170-BB95-BB83673D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48000"/>
            <a:ext cx="350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0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Usable pixels  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16A90-08FF-4B7D-A94F-E6499B3C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52850"/>
            <a:ext cx="350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Scene acquired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25 Oct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8EE17-C88D-469A-8022-83A0C560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781550"/>
            <a:ext cx="350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Live fetch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72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30 Oct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A6DFCF-4BDC-44FB-862B-B83D1B8E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76975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425" b="0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676"/>
                </a:solidFill>
                <a:latin typeface="Arial"/>
                <a:ea typeface="Arial"/>
                <a:cs typeface="Arial"/>
              </a:rPr>
              <a:t>Three regions checked live: India, France and Australia.</a:t>
            </a:r>
          </a:p>
        </p:txBody>
      </p:sp>
    </p:spTree>
    <p:extLst>
      <p:ext uri="{BB962C8B-B14F-4D97-AF65-F5344CB8AC3E}">
        <p14:creationId xmlns:p14="http://schemas.microsoft.com/office/powerpoint/2010/main" val="3873451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B2A7C-6240-4F83-82B1-9630397E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12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3E029-975C-4B9C-8F3F-AF0E5726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858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9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What CropScope does now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D752A-2DAF-49B2-8A5C-50ADDC8D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1001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CFDD6-9868-4B2B-B1BD-D94AF435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04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lnSpc>
                <a:spcPct val="113000"/>
              </a:lnSpc>
              <a:buNone/>
              <a:defRPr sz="1125" b="1">
                <a:solidFill>
                  <a:srgbClr val="52667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266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1C35AF-4F18-4A93-AEE1-6AB76B39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478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2325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A focused decision-support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39D2B3-9F23-4EE1-8250-6129DDC5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1071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It combines a seven-day forecast with a dated satellite vegetation observation for a user-selected rectangle.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6AB42-002A-4291-A4E9-09D328FB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0715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It shows evidence-linked checks, with a rule-based fallback when Gemini is unavailable.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A9AD2-3EA8-4E03-9020-2A8FE61E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43475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A11BB9-4531-46AB-B84D-0371C269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48275"/>
            <a:ext cx="106489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9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The live Gemini ranking was verified with dated Karnal evidence on 31 Oct 2026.</a:t>
            </a:r>
          </a:p>
        </p:txBody>
      </p:sp>
    </p:spTree>
    <p:extLst>
      <p:ext uri="{BB962C8B-B14F-4D97-AF65-F5344CB8AC3E}">
        <p14:creationId xmlns:p14="http://schemas.microsoft.com/office/powerpoint/2010/main" val="11760694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88030F-98E1-4C11-97E9-097476DA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200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Q&amp;A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43687-B763-423B-B042-40095E7D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620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CB1C94-35C7-4C08-A6F4-9297C743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47825"/>
            <a:ext cx="10477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480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3F2D4-4937-4508-8FB8-923F5646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1">
                <a:solidFill>
                  <a:srgbClr val="196A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6A8A"/>
                </a:solidFill>
                <a:latin typeface="Arial"/>
                <a:ea typeface="Arial"/>
                <a:cs typeface="Arial"/>
              </a:rPr>
              <a:t>Discussion topics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BBD373-7D88-4979-BEE4-D0A2236A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9906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Data sources and freshness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NDVI interpretation and cloud limits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875" b="0">
                <a:solidFill>
                  <a:srgbClr val="1C334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C3342"/>
                </a:solidFill>
                <a:latin typeface="Arial"/>
                <a:ea typeface="Arial"/>
                <a:cs typeface="Arial"/>
              </a:rPr>
              <a:t>How AI uses the observations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99015-BB33-4A24-9F82-7ED86AF9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10991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2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D07D5-F9E5-4B9F-BAF5-9AE8C4D0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53244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Shreyash Shukla  ·  23BCP089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86E6F3-9648-4E1F-A751-C65A5BBA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648325"/>
            <a:ext cx="50387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lnSpc>
                <a:spcPct val="113000"/>
              </a:lnSpc>
              <a:buNone/>
              <a:defRPr sz="1650" b="1">
                <a:solidFill>
                  <a:srgbClr val="15304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047"/>
                </a:solidFill>
                <a:latin typeface="Arial"/>
                <a:ea typeface="Arial"/>
                <a:cs typeface="Arial"/>
              </a:rPr>
              <a:t>Parth Parekh  ·  23BCP083</a:t>
            </a:r>
          </a:p>
        </p:txBody>
      </p:sp>
    </p:spTree>
    <p:extLst>
      <p:ext uri="{BB962C8B-B14F-4D97-AF65-F5344CB8AC3E}">
        <p14:creationId xmlns:p14="http://schemas.microsoft.com/office/powerpoint/2010/main" val="1608265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2026-10-30T19:06:37.8430000Z</dcterms:created>
  <dcterms:modified xsi:type="dcterms:W3CDTF">2026-10-30T19:06:37.8430000Z</dcterms:modified>
</coreProperties>
</file>